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5.png"/><Relationship Id="rId8" Type="http://schemas.openxmlformats.org/officeDocument/2006/relationships/image" Target="../media/image-10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Hetal Parmar 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Data Analysis Project | Python · SQL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1587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42306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46447" y="2187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46053" y="1542306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3196456" y="2187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21048" y="2763069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1971452" y="34080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21048" y="3714527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410081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features: demographics, purchase details, shopping behavior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5255"/>
            <a:ext cx="54288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1346150"/>
            <a:ext cx="212601" cy="212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3417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1648271"/>
            <a:ext cx="2138437" cy="243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transaction records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using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identify data types and missing values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statistical summary (mean, median, std dev, quartiles)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37 missing values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 Rating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column only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5564" y="1346150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13417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Missing Data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1648271"/>
            <a:ext cx="2138437" cy="2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median imputation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strategy grouped by product category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Preserved category-specific rating patterns during imputation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Validated imputation quality with before/after distribution analysis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1879" y="1346150"/>
            <a:ext cx="212601" cy="212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13417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1648271"/>
            <a:ext cx="2138437" cy="2879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Converted all column names to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consistency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Removed redundant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column (duplicate information)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Ensured data type consistency across all features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dataset: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3,900 rows × 18 columns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ready for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2718"/>
            <a:ext cx="334334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08596"/>
            <a:ext cx="4722763" cy="14109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8284" y="103361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Group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678284" y="1258491"/>
            <a:ext cx="441558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Binned customer ages into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 segments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using 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pd.cut()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equal-width binning: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678284" y="1472878"/>
            <a:ext cx="4415582" cy="721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Young Adult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(18–35)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Middle-aged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(36–50)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Adult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(51–65)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Senior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(65+)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06030"/>
            <a:ext cx="4722763" cy="11880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8284" y="2531046"/>
            <a:ext cx="143529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Frequency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78284" y="2755925"/>
            <a:ext cx="441558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Calculated days between consecutive purchases per customer to derive behavioral metrics: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678284" y="3123307"/>
            <a:ext cx="4415582" cy="34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interval &amp; frequency score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Identified 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repeat buyers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(5+ purchases) vs. 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one-time buyers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680520"/>
            <a:ext cx="4722763" cy="10302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8284" y="3805535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PostgreSQL Load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678284" y="4030414"/>
            <a:ext cx="441558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Exported cleaned DataFrame to a production-ready PostgreSQL database: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678284" y="4240039"/>
            <a:ext cx="4415582" cy="34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indexed tables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optimized query performance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Enabled real-time SQL analysis &amp; dashboard connectivity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7987"/>
            <a:ext cx="692393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Analysis: Revenue &amp; Discounts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04491"/>
            <a:ext cx="2622724" cy="3061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565300"/>
            <a:ext cx="1790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1871811"/>
            <a:ext cx="2224906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Compared total revenue: male vs. female customers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Female: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$75,191  | 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Male: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$157,890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404491"/>
            <a:ext cx="2622724" cy="30610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565300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093268"/>
            <a:ext cx="2224906" cy="2211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Comparison of customer count, average spend, and total revenue by subscription status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Subscribers (Yes):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1,053 customers  |  Avg. Spend: $59.49  |  Total Revenue: $62,645.00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Non-Subscribers (No):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2,847 customers  |  Avg. Spend: $59.87  |  Total Revenue: $170,436.00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404491"/>
            <a:ext cx="2622724" cy="30610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565300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 Products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093268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5 products with highest % of discounted purchases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262092" y="2631951"/>
            <a:ext cx="2224906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Hat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50.00%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Sneakers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49.66%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Coat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49.07%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Sweater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48.17%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Pants</a:t>
            </a:r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47.37%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852"/>
            <a:ext cx="5522416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Analysis: Products &amp; Shipping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970806"/>
            <a:ext cx="2657252" cy="3734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0517" y="1098054"/>
            <a:ext cx="181466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Rating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0517" y="1328514"/>
            <a:ext cx="23456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average review ratings: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80517" y="1544836"/>
            <a:ext cx="2345606" cy="93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3.86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3.84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3.82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3.80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3.78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3337" y="970806"/>
            <a:ext cx="2657252" cy="3734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7735" y="1098054"/>
            <a:ext cx="159714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Comparison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427735" y="1328514"/>
            <a:ext cx="2345606" cy="378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spend by shipping type: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Standard: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$58.46  | 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Express: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$60.48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0555" y="970806"/>
            <a:ext cx="2657326" cy="37348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4953" y="109805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3 per Category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174953" y="1328514"/>
            <a:ext cx="2345680" cy="378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purchased products by category: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Accessories: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6174953" y="1761158"/>
            <a:ext cx="2345680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Jewelry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171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Sunglasses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161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Belt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161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174953" y="2365177"/>
            <a:ext cx="23456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Clothing: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174953" y="2581498"/>
            <a:ext cx="2345680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171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171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Shirt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169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6174953" y="3185517"/>
            <a:ext cx="23456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Footwear: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174953" y="3401839"/>
            <a:ext cx="2345680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160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Shoes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150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145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174953" y="4005858"/>
            <a:ext cx="23456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Outerwear: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174953" y="4222179"/>
            <a:ext cx="2345680" cy="3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Jacket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163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 — 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161</a:t>
            </a:r>
            <a:pPr algn="l" marL="172720" indent="-17272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orders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273866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32968"/>
            <a:ext cx="2286298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Segments Defined by Purchase History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84847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New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first-time buyers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Returning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repeat shoppers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Loyal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frequent, high-value customers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910706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 analyzed: subscribers vs. non-subscribers spend &amp; revenue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3808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Groups &amp; Subscription Behavior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04255"/>
            <a:ext cx="5238080" cy="5238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1900" y="2543473"/>
            <a:ext cx="2740670" cy="8010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30367" y="2623840"/>
            <a:ext cx="10429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650" dirty="0"/>
          </a:p>
        </p:txBody>
      </p:sp>
      <p:sp>
        <p:nvSpPr>
          <p:cNvPr id="6" name="Text 2"/>
          <p:cNvSpPr/>
          <p:nvPr/>
        </p:nvSpPr>
        <p:spPr>
          <a:xfrm>
            <a:off x="6030367" y="2769989"/>
            <a:ext cx="2541836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Young Adult: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$62,143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Middle-aged: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$59,197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Adult: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$55,978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Senior: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$55,763</a:t>
            </a:r>
            <a:endParaRPr lang="en-US" sz="550" dirty="0"/>
          </a:p>
        </p:txBody>
      </p:sp>
      <p:sp>
        <p:nvSpPr>
          <p:cNvPr id="7" name="Text 3"/>
          <p:cNvSpPr/>
          <p:nvPr/>
        </p:nvSpPr>
        <p:spPr>
          <a:xfrm>
            <a:off x="6030367" y="3179118"/>
            <a:ext cx="254183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generate the highest total revenue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1900" y="3379961"/>
            <a:ext cx="2740670" cy="7231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30367" y="3460328"/>
            <a:ext cx="141022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Buyers → Subscriptions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6030367" y="3606478"/>
            <a:ext cx="254183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customers with 5+ purchases:</a:t>
            </a:r>
            <a:endParaRPr lang="en-US" sz="550" dirty="0"/>
          </a:p>
        </p:txBody>
      </p:sp>
      <p:sp>
        <p:nvSpPr>
          <p:cNvPr id="11" name="Text 6"/>
          <p:cNvSpPr/>
          <p:nvPr/>
        </p:nvSpPr>
        <p:spPr>
          <a:xfrm>
            <a:off x="6030367" y="3723382"/>
            <a:ext cx="2541836" cy="182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Non-Subscribers: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2,518 repeat buyers (73%)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Subscribers: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958 repeat buyers (27%)</a:t>
            </a:r>
            <a:endParaRPr lang="en-US" sz="550" dirty="0"/>
          </a:p>
        </p:txBody>
      </p:sp>
      <p:sp>
        <p:nvSpPr>
          <p:cNvPr id="12" name="Text 7"/>
          <p:cNvSpPr/>
          <p:nvPr/>
        </p:nvSpPr>
        <p:spPr>
          <a:xfrm>
            <a:off x="6030367" y="3937695"/>
            <a:ext cx="254183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Majority of repeat buyers remain non-subscribers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0"/>
            <a:ext cx="5715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917" y="1050727"/>
            <a:ext cx="5573167" cy="304204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568797"/>
            <a:ext cx="2436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2667372"/>
            <a:ext cx="2436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visual summary of all insights — revenue, segments, products, and behavior patterns in one view.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9971"/>
            <a:ext cx="591748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Features &amp;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84585"/>
            <a:ext cx="8151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comprehensive Power BI dashboard consolidates all analytical insights into a single, dynamic view, enabling real-time exploration of revenue, customer behavior, and product performance.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78694"/>
            <a:ext cx="4021634" cy="1674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3918" y="166032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4380" y="2073548"/>
            <a:ext cx="170601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&amp; KPI Cards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4380" y="2332509"/>
            <a:ext cx="3745111" cy="782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revenue, transaction count, and customer segment totals at a glance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tracking by gender, age group, and subscription status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248" y="1578694"/>
            <a:ext cx="4021634" cy="1674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44047" y="166032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764509" y="2073548"/>
            <a:ext cx="17075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64509" y="2332509"/>
            <a:ext cx="3745111" cy="41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Ratings, order volumes, and discount rates per product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Category-level breakdown of top and underperforming items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61358"/>
            <a:ext cx="4021634" cy="13020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3918" y="344299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34380" y="3856211"/>
            <a:ext cx="19357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4380" y="4115172"/>
            <a:ext cx="3745111" cy="41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breakdown of New, Returning, and Loyal segments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Shipping method analysis and its impact on average spend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6248" y="3361358"/>
            <a:ext cx="4021634" cy="13020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44047" y="344299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764509" y="385621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Interactive Filters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64509" y="4115172"/>
            <a:ext cx="3745111" cy="41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Drill down by category, age group, and customer type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Slicers enable cross-filtering across all visuals simultaneously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9863"/>
            <a:ext cx="73463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Insights from Dashboard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636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critical findings that drive business strategy: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82651"/>
            <a:ext cx="2622724" cy="2890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1843460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Opportunity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371427"/>
            <a:ext cx="222490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73% of customers shop without subscription — representing a massive untapped revenue stream. Converting even a portion of these 2,847 non-subscribers could significantly boost recurring revenue and customer lifetime value.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682651"/>
            <a:ext cx="2622724" cy="2890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7610" y="1843460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Clothing Category Dominance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97610" y="2371427"/>
            <a:ext cx="222490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Clothing category leads in both revenue and sales volume, with Blouse and Pants each generating 171 orders. This category should be prioritized for inventory, marketing, and product development investments.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682651"/>
            <a:ext cx="2622724" cy="28909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2092" y="1843460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Young Adult Revenue Leadership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2092" y="2371427"/>
            <a:ext cx="2224906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generate the highest revenue at $62,143 — outpacing Middle-aged ($59,197), Adult ($55,978), and Senior ($55,763) segments. This demographic should be the primary target for marketing campaigns and product positioning strategies.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160"/>
            <a:ext cx="4995714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96119" y="1043583"/>
            <a:ext cx="2642295" cy="1972568"/>
          </a:xfrm>
          <a:prstGeom prst="roundRect">
            <a:avLst>
              <a:gd name="adj" fmla="val 26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7087" y="1174552"/>
            <a:ext cx="378768" cy="378768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267" y="1278657"/>
            <a:ext cx="170408" cy="170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7087" y="1665759"/>
            <a:ext cx="160377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7087" y="1930450"/>
            <a:ext cx="2380357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benefits. Only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27%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customers are subscribers — target the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2,518 non-subscriber repeat buyers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dedicated conversion campaigns.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50853" y="1043583"/>
            <a:ext cx="2642295" cy="1972568"/>
          </a:xfrm>
          <a:prstGeom prst="roundRect">
            <a:avLst>
              <a:gd name="adj" fmla="val 26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1821" y="1174552"/>
            <a:ext cx="378768" cy="378768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6001" y="1278657"/>
            <a:ext cx="170408" cy="1704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1821" y="166575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81821" y="1930450"/>
            <a:ext cx="2380357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in top segments.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Young Adults ($62K)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Middle-aged ($59K)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 in revenue — reward frequent purchasers to increase lifetime value.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05587" y="1043583"/>
            <a:ext cx="2642295" cy="1972568"/>
          </a:xfrm>
          <a:prstGeom prst="roundRect">
            <a:avLst>
              <a:gd name="adj" fmla="val 268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36556" y="1174552"/>
            <a:ext cx="378768" cy="378768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0735" y="1278657"/>
            <a:ext cx="170408" cy="1704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36556" y="166575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36556" y="1930450"/>
            <a:ext cx="2380357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control.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Hats (50%)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Sneakers (49.7%)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Coats (49%)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show high discount dependency — closely monitor margin impact.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96119" y="3128590"/>
            <a:ext cx="4019624" cy="1590675"/>
          </a:xfrm>
          <a:prstGeom prst="roundRect">
            <a:avLst>
              <a:gd name="adj" fmla="val 333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7087" y="3259559"/>
            <a:ext cx="378768" cy="378768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267" y="3363664"/>
            <a:ext cx="170408" cy="1704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7087" y="3750766"/>
            <a:ext cx="159179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27087" y="4015457"/>
            <a:ext cx="375768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high-value segments.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Young Adults generate the highest revenue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Express shipping users spend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 more per order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average — prioritize these audiences.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628183" y="3128590"/>
            <a:ext cx="4019699" cy="1590675"/>
          </a:xfrm>
          <a:prstGeom prst="roundRect">
            <a:avLst>
              <a:gd name="adj" fmla="val 333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59151" y="3259559"/>
            <a:ext cx="378768" cy="378768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3331" y="3363664"/>
            <a:ext cx="170408" cy="1704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59151" y="3750766"/>
            <a:ext cx="160124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759151" y="4015457"/>
            <a:ext cx="37577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items.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Gloves (3.86★)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Sandals (3.84★)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Boots (3.82★)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top ratings;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Jewelry &amp; Blouse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 in order volume.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2026-07-06T01:38:09Z</dcterms:created>
  <dcterms:modified xsi:type="dcterms:W3CDTF">2026-07-06T01:38:09Z</dcterms:modified>
</cp:coreProperties>
</file>